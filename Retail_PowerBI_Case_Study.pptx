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Retail Power BI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DCE1E6"/>
                </a:solidFill>
                <a:latin typeface="Aptos"/>
              </a:rPr>
              <a:t>Retailer • Product • Store • Perfect Outlet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4BEC8"/>
                </a:solidFill>
                <a:latin typeface="Aptos"/>
              </a:rPr>
              <a:t>Management summary and presentation narrative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1212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F2937"/>
                </a:solidFill>
                <a:latin typeface="Aptos"/>
              </a:rPr>
              <a:t>Growth of 6.6% in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V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alue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H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ides a 2.0%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V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olume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D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ecline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646" y="3730870"/>
            <a:ext cx="610303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Pick n Pay: value +13.5% and volume +8.7%.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Makro: value +11.9% but volume -3.0%; growth is heavily price-led.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Shoprite: value -9.9%, volume -12.8%, with 36 of 37 declining stores.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Beverages contributed about R266k, roughly half of total value growth.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5114" y="366649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1F2937"/>
                </a:solidFill>
                <a:latin typeface="Aptos"/>
              </a:rPr>
              <a:t>Decision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1681" y="4013148"/>
            <a:ext cx="40484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D1495B"/>
                </a:solidFill>
                <a:latin typeface="Aptos"/>
              </a:rPr>
              <a:t>Shoprite gaps • Makro pricing • Beverages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E507EE-8796-3811-D7A3-FE567DD5C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6" y="1489145"/>
            <a:ext cx="11298227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59425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F2937"/>
                </a:solidFill>
                <a:latin typeface="Aptos"/>
              </a:rPr>
              <a:t>Retailer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P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erformance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T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ells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T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hree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D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ifferent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S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Value, volume, price and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652" y="1424354"/>
            <a:ext cx="8723414" cy="995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Makro's price effect is approximately +R486k against a total gain of about R407k.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Pick n Pay's volume effect is approximately +R208k and carries most of its growth.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Shoprite's lost units created about R265k of negative volume effect; price increases softened the value decline.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2C8728-2343-48DE-7DC1-A6F95FA4E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52" y="2851796"/>
            <a:ext cx="5515745" cy="2676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77568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F2937"/>
                </a:solidFill>
                <a:latin typeface="Aptos"/>
              </a:rPr>
              <a:t>Beverages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D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elivered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H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alf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T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he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G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Product and category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508760"/>
            <a:ext cx="7026667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Tea grew +14.4% in value; Ready-to-Drink grew +16.5%.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Shoprite Beverages grew only 0.9%, versus 21.5% at Makro and 18.5% at Pick n Pay.</a:t>
            </a:r>
          </a:p>
          <a:p>
            <a:pPr>
              <a:spcAft>
                <a:spcPts val="1000"/>
              </a:spcAft>
            </a:pPr>
            <a:r>
              <a:rPr sz="1400" dirty="0" err="1">
                <a:solidFill>
                  <a:srgbClr val="1F2937"/>
                </a:solidFill>
                <a:latin typeface="Aptos"/>
              </a:rPr>
              <a:t>CraveCraft</a:t>
            </a:r>
            <a:r>
              <a:rPr sz="1400" dirty="0">
                <a:solidFill>
                  <a:srgbClr val="1F2937"/>
                </a:solidFill>
                <a:latin typeface="Aptos"/>
              </a:rPr>
              <a:t> Chutney Maize Bites was the only SKU in value decline (-1.1%; volume -8.6%).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Shoprite Cereals lost R146k, the largest single hole in the dataset.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5F4268-F0D0-EA93-7D6C-E9AAD3DC1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160330"/>
            <a:ext cx="4973636" cy="25603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F77DDB-9415-6136-2613-D0CD9BD4E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564" y="3160330"/>
            <a:ext cx="5082426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Store exceptions concentrate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Store and regional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018255" cy="1682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Tier 1 definition: value decline worse than R8k </a:t>
            </a:r>
            <a:r>
              <a:rPr lang="en-US" sz="1400" dirty="0">
                <a:solidFill>
                  <a:srgbClr val="1F2937"/>
                </a:solidFill>
                <a:latin typeface="Aptos"/>
              </a:rPr>
              <a:t>and</a:t>
            </a:r>
            <a:r>
              <a:rPr sz="1400" dirty="0">
                <a:solidFill>
                  <a:srgbClr val="1F2937"/>
                </a:solidFill>
                <a:latin typeface="Aptos"/>
              </a:rPr>
              <a:t> at least 5 recorded gaps.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Eight stores fall into Tier 1: </a:t>
            </a:r>
            <a:r>
              <a:rPr sz="1400" dirty="0" err="1">
                <a:solidFill>
                  <a:srgbClr val="1F2937"/>
                </a:solidFill>
                <a:latin typeface="Aptos"/>
              </a:rPr>
              <a:t>Gqeberha</a:t>
            </a:r>
            <a:r>
              <a:rPr sz="1400" dirty="0">
                <a:solidFill>
                  <a:srgbClr val="1F2937"/>
                </a:solidFill>
                <a:latin typeface="Aptos"/>
              </a:rPr>
              <a:t>, East London, Polokwane, Middelburg, Bethlehem, Mthatha, Mossel Bay and Richards Bay.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36 of the 37 declining stores are Shoprite; the remaining one is Makro Polokwane.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Eastern Cape is the only declining region (-1.2% value; -9.5% volume).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Western Cape Metro is the strongest region at +14.6% value growth.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AE52A-423F-CE0C-5D50-743928AA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52" y="3448466"/>
            <a:ext cx="11222016" cy="2476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Gap lines are shrinking while no-gap lines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Perfect outlet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6988965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Without gaps, ranging and availability lines grew about +8.9% to +9.0%.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Within every retailer, SKUs with availability gaps perform worse than those without them.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Shoprite has the largest gap exposure: availability 18% and ranging 11%.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Estimated gap opportunity is about R342k.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237CE9-3ECD-0542-F3BF-3904FCBFE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6687483" cy="2657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29069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F2937"/>
                </a:solidFill>
                <a:latin typeface="Aptos"/>
              </a:rPr>
              <a:t>Makro's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P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rice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H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eadroom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I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s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C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osting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U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Pricing effectiveness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08760"/>
            <a:ext cx="7539885" cy="13388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157 rows (10.9%) are more than 5% above RSP and carry 11.8% of 2026 value.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100 flagged rows are in Makro, representing 21% of Makro's lines.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Makro flagged lines: value +2.9%, volume -10.7%; unflagged lines: value +14.1%, volume -0.9%.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One year of data is insufficient to prove price elasticity.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F6CF9B-9A81-A58A-9B7B-8BB874B0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55" y="3132459"/>
            <a:ext cx="11911984" cy="217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22192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F2937"/>
                </a:solidFill>
                <a:latin typeface="Aptos"/>
              </a:rPr>
              <a:t>30 / 60 / 90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D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ay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A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ction </a:t>
            </a:r>
            <a:r>
              <a:rPr lang="en-US" sz="2600" b="1" dirty="0">
                <a:solidFill>
                  <a:srgbClr val="1F2937"/>
                </a:solidFill>
                <a:latin typeface="Aptos"/>
              </a:rPr>
              <a:t>P</a:t>
            </a:r>
            <a:r>
              <a:rPr sz="2600" b="1" dirty="0">
                <a:solidFill>
                  <a:srgbClr val="1F2937"/>
                </a:solidFill>
                <a:latin typeface="Aptos"/>
              </a:rPr>
              <a:t>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40014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6B7280"/>
                </a:solidFill>
                <a:latin typeface="Aptos"/>
              </a:rPr>
              <a:t>Proposed actions </a:t>
            </a:r>
            <a:r>
              <a:rPr lang="en-US" sz="1100" dirty="0">
                <a:solidFill>
                  <a:srgbClr val="6B7280"/>
                </a:solidFill>
                <a:latin typeface="Aptos"/>
              </a:rPr>
              <a:t>:</a:t>
            </a:r>
            <a:r>
              <a:rPr sz="1100" b="0" dirty="0">
                <a:solidFill>
                  <a:srgbClr val="6B7280"/>
                </a:solidFill>
                <a:latin typeface="Aptos"/>
              </a:rPr>
              <a:t>targets should be agreed with the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539308" cy="30572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30 DAYS</a:t>
            </a:r>
            <a:endParaRPr lang="en-US" sz="1400" dirty="0">
              <a:solidFill>
                <a:srgbClr val="1F2937"/>
              </a:solidFill>
              <a:latin typeface="Aptos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F2937"/>
                </a:solidFill>
                <a:latin typeface="Aptos"/>
              </a:rPr>
              <a:t>Fix availability and ranging in the 8 Tier 1 Shoprite stores; refresh barcode/gap data.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60 DAYS</a:t>
            </a:r>
            <a:endParaRPr lang="en-US" sz="1400" dirty="0">
              <a:solidFill>
                <a:srgbClr val="1F2937"/>
              </a:solidFill>
              <a:latin typeface="Aptos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F2937"/>
                </a:solidFill>
                <a:latin typeface="Aptos"/>
              </a:rPr>
              <a:t>Extend the Shoprite gap </a:t>
            </a:r>
            <a:r>
              <a:rPr sz="1400" dirty="0" err="1">
                <a:solidFill>
                  <a:srgbClr val="1F2937"/>
                </a:solidFill>
                <a:latin typeface="Aptos"/>
              </a:rPr>
              <a:t>programme</a:t>
            </a:r>
            <a:r>
              <a:rPr sz="1400" dirty="0">
                <a:solidFill>
                  <a:srgbClr val="1F2937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1F2937"/>
                </a:solidFill>
                <a:latin typeface="Aptos"/>
              </a:rPr>
              <a:t>prioritising</a:t>
            </a:r>
            <a:r>
              <a:rPr sz="1400" dirty="0">
                <a:solidFill>
                  <a:srgbClr val="1F2937"/>
                </a:solidFill>
                <a:latin typeface="Aptos"/>
              </a:rPr>
              <a:t> Eastern Cape and Limpopo &amp; Mpumalanga.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F2937"/>
                </a:solidFill>
                <a:latin typeface="Aptos"/>
              </a:rPr>
              <a:t>Review Makro lines more than 5% above RSP, starting with the highest premiums.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F2937"/>
                </a:solidFill>
                <a:latin typeface="Aptos"/>
              </a:rPr>
              <a:t>Launch a Shoprite Beverages plan focused on Tea and Ready-to-Drink.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90 DAYS </a:t>
            </a:r>
            <a:endParaRPr lang="en-US" sz="1400" dirty="0">
              <a:solidFill>
                <a:srgbClr val="1F2937"/>
              </a:solidFill>
              <a:latin typeface="Aptos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F2937"/>
                </a:solidFill>
                <a:latin typeface="Aptos"/>
              </a:rPr>
              <a:t>Embed Tier 1/Tier 2 exceptions into routine reporting with named owners.</a:t>
            </a:r>
            <a:endParaRPr lang="en-US" sz="1400" dirty="0">
              <a:solidFill>
                <a:srgbClr val="1F2937"/>
              </a:solidFill>
              <a:latin typeface="Aptos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1F2937"/>
                </a:solidFill>
                <a:latin typeface="Aptos"/>
              </a:rPr>
              <a:t>Review Cereals and Snacks volume plans.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Overall proposed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35404"/>
            <a:ext cx="817082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dirty="0">
                <a:solidFill>
                  <a:srgbClr val="1B998B"/>
                </a:solidFill>
                <a:latin typeface="Aptos"/>
              </a:rPr>
              <a:t>Recover a meaningful share of the estimated R342k opportunity, move Shoprite towards flat</a:t>
            </a:r>
            <a:r>
              <a:rPr lang="en-US" sz="1050" b="1" dirty="0">
                <a:solidFill>
                  <a:srgbClr val="1B998B"/>
                </a:solidFill>
                <a:latin typeface="Aptos"/>
              </a:rPr>
              <a:t> </a:t>
            </a:r>
            <a:r>
              <a:rPr sz="1050" b="1" dirty="0">
                <a:solidFill>
                  <a:srgbClr val="1B998B"/>
                </a:solidFill>
                <a:latin typeface="Aptos"/>
              </a:rPr>
              <a:t>and stop Makro volume falling further.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Aptos"/>
              </a:rPr>
              <a:t>Methodology, assumptions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What the analysis can and cannot tell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464" y="1325880"/>
            <a:ext cx="11743728" cy="20261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Scope: Oct to Aug FY2026 vs the same period last year; 3 retailers, 4 divisions, 8 regions, 120 stores, 12 SKUs, 5 brands and 4 categories.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Product master barcodes were corrupted into scientific notation; SKU description was used for matching and all 12 SKUs matched.</a:t>
            </a:r>
            <a:endParaRPr lang="en-US" sz="1400" dirty="0">
              <a:solidFill>
                <a:srgbClr val="1F2937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F2937"/>
                </a:solidFill>
                <a:latin typeface="Aptos"/>
              </a:rPr>
              <a:t> Used SQL to combine all tables:</a:t>
            </a:r>
            <a:endParaRPr sz="1400" dirty="0">
              <a:solidFill>
                <a:srgbClr val="1F2937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AUP/RSP comma-decimal values were converted; no duplicate store/barcode keys, zero/negative sales or unmatched stores/products were identified.</a:t>
            </a:r>
          </a:p>
          <a:p>
            <a:pPr>
              <a:spcAft>
                <a:spcPts val="1000"/>
              </a:spcAft>
            </a:pPr>
            <a:r>
              <a:rPr sz="1400" dirty="0" err="1">
                <a:solidFill>
                  <a:srgbClr val="1F2937"/>
                </a:solidFill>
                <a:latin typeface="Aptos"/>
              </a:rPr>
              <a:t>Pricing_Gap</a:t>
            </a:r>
            <a:r>
              <a:rPr sz="1400" dirty="0">
                <a:solidFill>
                  <a:srgbClr val="1F2937"/>
                </a:solidFill>
                <a:latin typeface="Aptos"/>
              </a:rPr>
              <a:t> matches the rule of AUP more than 5% above RSP on all 157 flagged rows.</a:t>
            </a:r>
          </a:p>
          <a:p>
            <a:pPr>
              <a:spcAft>
                <a:spcPts val="1000"/>
              </a:spcAft>
            </a:pPr>
            <a:r>
              <a:rPr sz="1400" dirty="0">
                <a:solidFill>
                  <a:srgbClr val="1F2937"/>
                </a:solidFill>
                <a:latin typeface="Aptos"/>
              </a:rPr>
              <a:t>Limitations: one period; no margin, promotion, cost or competitor data; gap flags are a snapshot; associations are not causation.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770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Thandeka Ngetu</cp:lastModifiedBy>
  <cp:revision>2</cp:revision>
  <dcterms:created xsi:type="dcterms:W3CDTF">2013-01-27T09:14:16Z</dcterms:created>
  <dcterms:modified xsi:type="dcterms:W3CDTF">2026-10-01T20:56:01Z</dcterms:modified>
  <cp:category/>
</cp:coreProperties>
</file>